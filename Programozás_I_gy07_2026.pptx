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56" r:id="rId3"/>
    <p:sldId id="329" r:id="rId4"/>
    <p:sldId id="356" r:id="rId5"/>
    <p:sldId id="273" r:id="rId6"/>
    <p:sldId id="358" r:id="rId7"/>
    <p:sldId id="354" r:id="rId8"/>
    <p:sldId id="359" r:id="rId9"/>
    <p:sldId id="360" r:id="rId10"/>
    <p:sldId id="362" r:id="rId11"/>
    <p:sldId id="361" r:id="rId12"/>
    <p:sldId id="363" r:id="rId13"/>
    <p:sldId id="278" r:id="rId14"/>
    <p:sldId id="279" r:id="rId15"/>
    <p:sldId id="364" r:id="rId16"/>
    <p:sldId id="365" r:id="rId17"/>
  </p:sldIdLst>
  <p:sldSz cx="12192000" cy="6858000"/>
  <p:notesSz cx="6797675" cy="9926638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89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90" y="90"/>
      </p:cViewPr>
      <p:guideLst>
        <p:guide orient="horz" pos="2160"/>
        <p:guide pos="318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8" d="100"/>
          <a:sy n="68" d="100"/>
        </p:scale>
        <p:origin x="2808" y="4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AE818-DA56-4396-B62F-DCEA32E10089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290CA-28CD-46F7-9865-916D4471B7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6468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4F104-72D1-4EC9-8167-203924B4FED6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93A10-90DB-42B5-A880-C505E7E086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4794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93A10-90DB-42B5-A880-C505E7E086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104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293A10-90DB-42B5-A880-C505E7E086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17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9477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378262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9858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7106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2192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7483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872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48917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522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8593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0900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1430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3428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rhazi.zoltan@nje.h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2103294"/>
            <a:ext cx="9144000" cy="1046452"/>
          </a:xfrm>
        </p:spPr>
        <p:txBody>
          <a:bodyPr/>
          <a:lstStyle/>
          <a:p>
            <a:r>
              <a:rPr lang="hu-HU" b="1" dirty="0"/>
              <a:t>Programozás_1</a:t>
            </a:r>
            <a:r>
              <a:rPr lang="en-GB" b="1" dirty="0"/>
              <a:t> – C++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223491"/>
            <a:ext cx="9144000" cy="2863273"/>
          </a:xfrm>
        </p:spPr>
        <p:txBody>
          <a:bodyPr>
            <a:normAutofit/>
          </a:bodyPr>
          <a:lstStyle/>
          <a:p>
            <a:pPr>
              <a:spcAft>
                <a:spcPts val="2400"/>
              </a:spcAft>
            </a:pPr>
            <a:r>
              <a:rPr lang="hu-HU" sz="3600" dirty="0">
                <a:latin typeface="Arial" panose="020B0604020202020204" pitchFamily="34" charset="0"/>
                <a:cs typeface="Arial" panose="020B0604020202020204" pitchFamily="34" charset="0"/>
              </a:rPr>
              <a:t>Nappalis munkarend 7.hét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hu-HU" dirty="0">
                <a:latin typeface="Aptos Black" panose="020F0502020204030204" pitchFamily="34" charset="0"/>
              </a:rPr>
              <a:t>	</a:t>
            </a:r>
            <a:r>
              <a:rPr lang="hu-HU" sz="2800" dirty="0">
                <a:latin typeface="Aptos Black" panose="020F0502020204030204" pitchFamily="34" charset="0"/>
              </a:rPr>
              <a:t>	Irházi Zoltán  </a:t>
            </a:r>
            <a:br>
              <a:rPr lang="hu-HU" sz="2800" dirty="0">
                <a:latin typeface="Aptos Black" panose="020F0502020204030204" pitchFamily="34" charset="0"/>
              </a:rPr>
            </a:br>
            <a:r>
              <a:rPr lang="hu-HU" sz="2800" dirty="0">
                <a:latin typeface="Aptos Black" panose="020F0502020204030204" pitchFamily="34" charset="0"/>
              </a:rPr>
              <a:t>		</a:t>
            </a: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egyetemi mesteroktató</a:t>
            </a:r>
            <a:br>
              <a:rPr lang="hu-HU" sz="2800" dirty="0">
                <a:latin typeface="Aptos Black" panose="020F0502020204030204" pitchFamily="34" charset="0"/>
              </a:rPr>
            </a:br>
            <a:r>
              <a:rPr lang="hu-HU" sz="2800" dirty="0">
                <a:latin typeface="Aptos Black" panose="020F0502020204030204" pitchFamily="34" charset="0"/>
              </a:rPr>
              <a:t>		email: </a:t>
            </a:r>
            <a:r>
              <a:rPr lang="hu-HU" sz="2800" dirty="0">
                <a:latin typeface="Aptos Black" panose="020F0502020204030204" pitchFamily="34" charset="0"/>
                <a:hlinkClick r:id="rId3"/>
              </a:rPr>
              <a:t>irhazi.zoltan@nje.hu</a:t>
            </a:r>
            <a:br>
              <a:rPr lang="hu-HU" sz="2800" dirty="0">
                <a:latin typeface="Aptos Black" panose="020F0502020204030204" pitchFamily="34" charset="0"/>
              </a:rPr>
            </a:br>
            <a:r>
              <a:rPr lang="hu-HU" sz="2800" dirty="0">
                <a:latin typeface="Aptos Black" panose="020F0502020204030204" pitchFamily="34" charset="0"/>
              </a:rPr>
              <a:t>		iroda: I.emelet 114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82" y="173038"/>
            <a:ext cx="2143125" cy="214312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390" y="265471"/>
            <a:ext cx="1944258" cy="1944258"/>
          </a:xfrm>
          <a:prstGeom prst="rect">
            <a:avLst/>
          </a:prstGeom>
        </p:spPr>
      </p:pic>
      <p:sp>
        <p:nvSpPr>
          <p:cNvPr id="8" name="Dia számának hely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1</a:t>
            </a:fld>
            <a:endParaRPr lang="hu-HU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98DBACF1-90F9-F794-F303-8FE52754A1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40" y="5852332"/>
            <a:ext cx="2065389" cy="64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0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>
          <a:xfrm>
            <a:off x="631371" y="297607"/>
            <a:ext cx="10515600" cy="850217"/>
          </a:xfrm>
        </p:spPr>
        <p:txBody>
          <a:bodyPr>
            <a:normAutofit/>
          </a:bodyPr>
          <a:lstStyle/>
          <a:p>
            <a:r>
              <a:rPr lang="hu-HU" sz="4000" dirty="0"/>
              <a:t>A</a:t>
            </a:r>
            <a:r>
              <a:rPr lang="en-GB" sz="4000" dirty="0"/>
              <a:t> </a:t>
            </a:r>
            <a:r>
              <a:rPr lang="hu-HU" sz="4000" dirty="0"/>
              <a:t>gyakorlat tartalma</a:t>
            </a:r>
            <a:endParaRPr lang="en-GB" sz="4000" dirty="0"/>
          </a:p>
        </p:txBody>
      </p:sp>
      <p:sp>
        <p:nvSpPr>
          <p:cNvPr id="5" name="Tartalom helye 4"/>
          <p:cNvSpPr>
            <a:spLocks noGrp="1"/>
          </p:cNvSpPr>
          <p:nvPr>
            <p:ph idx="1"/>
          </p:nvPr>
        </p:nvSpPr>
        <p:spPr>
          <a:xfrm>
            <a:off x="723900" y="1636769"/>
            <a:ext cx="10744200" cy="3584461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hu-HU" sz="3600" dirty="0">
                <a:latin typeface="Arial" panose="020B0604020202020204" pitchFamily="34" charset="0"/>
                <a:cs typeface="Arial" panose="020B0604020202020204" pitchFamily="34" charset="0"/>
              </a:rPr>
              <a:t>A vetélkedő feladat megoldása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hu-HU" sz="3600" dirty="0">
                <a:latin typeface="Arial" panose="020B0604020202020204" pitchFamily="34" charset="0"/>
                <a:cs typeface="Arial" panose="020B0604020202020204" pitchFamily="34" charset="0"/>
              </a:rPr>
              <a:t>A mutató típus és a referencia típus használata a </a:t>
            </a:r>
            <a:br>
              <a:rPr lang="hu-HU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sz="3600" dirty="0">
                <a:latin typeface="Arial" panose="020B0604020202020204" pitchFamily="34" charset="0"/>
                <a:cs typeface="Arial" panose="020B0604020202020204" pitchFamily="34" charset="0"/>
              </a:rPr>
              <a:t>C++-ban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hu-HU" sz="3600" dirty="0">
                <a:latin typeface="Arial" panose="020B0604020202020204" pitchFamily="34" charset="0"/>
                <a:cs typeface="Arial" panose="020B0604020202020204" pitchFamily="34" charset="0"/>
              </a:rPr>
              <a:t>Függvények a C++ programozási nyelvben</a:t>
            </a: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9289556" y="6433006"/>
            <a:ext cx="2743200" cy="365125"/>
          </a:xfrm>
        </p:spPr>
        <p:txBody>
          <a:bodyPr/>
          <a:lstStyle/>
          <a:p>
            <a:fld id="{0FB101A8-4E4C-43D7-BBA0-64F81C4A5ECF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4437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2A960-EF37-CEB3-F467-11C51C10A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3241D7-4D7A-5103-3A59-84958843F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8" y="300888"/>
            <a:ext cx="11336518" cy="70119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hu-HU" sz="4000" dirty="0"/>
              <a:t>Vetélkedő feladat</a:t>
            </a:r>
            <a:endParaRPr lang="en-GB" sz="40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7B29B7-1BE6-D1A3-2815-F1CBBB03B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68" y="1715795"/>
            <a:ext cx="10518731" cy="33272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hu-HU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feladat kiírás : vetélkedő_2026.pdf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hu-HU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szöveges állomány: vetelked.txt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hu-HU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Megtalálhatóak a T: HALLGATOKNAK meghajtón!</a:t>
            </a:r>
            <a:br>
              <a:rPr lang="hu-HU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u-HU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6C807F2-4F33-DCB0-61C5-8AA134E42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3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4933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9FD4-9154-E95B-BBEE-3300540B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9559D9-D64E-D435-E224-8E2559909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" y="54430"/>
            <a:ext cx="11892569" cy="840259"/>
          </a:xfrm>
        </p:spPr>
        <p:txBody>
          <a:bodyPr>
            <a:noAutofit/>
          </a:bodyPr>
          <a:lstStyle/>
          <a:p>
            <a:r>
              <a:rPr lang="hu-HU" sz="3600" dirty="0"/>
              <a:t>A mutató típus használata a C++-ban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E107EB-C6E9-F6CB-EABB-668B1C809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3" y="1240975"/>
            <a:ext cx="11402860" cy="47788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000" dirty="0"/>
              <a:t>Mutatón – pointeren – olyan változót értünk, melyben egy másik változó memóriában elfoglalt helyét tárolhatjuk.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hu-HU" sz="3000" dirty="0"/>
              <a:t>Mutató (pointer) deklarálása: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hu-HU" sz="3000" dirty="0"/>
              <a:t>		</a:t>
            </a:r>
            <a:r>
              <a:rPr lang="hu-HU" sz="3000" dirty="0" err="1"/>
              <a:t>mutatott_érték_típusa</a:t>
            </a:r>
            <a:r>
              <a:rPr lang="hu-HU" sz="3000" dirty="0"/>
              <a:t> *</a:t>
            </a:r>
            <a:r>
              <a:rPr lang="hu-HU" sz="3000" dirty="0" err="1"/>
              <a:t>mutató_neve</a:t>
            </a:r>
            <a:r>
              <a:rPr lang="hu-HU" sz="3000" dirty="0"/>
              <a:t>;</a:t>
            </a:r>
          </a:p>
          <a:p>
            <a:pPr marL="0" indent="0">
              <a:buNone/>
            </a:pPr>
            <a:r>
              <a:rPr lang="hu-HU" sz="3000" dirty="0"/>
              <a:t>		pl.: 	int *</a:t>
            </a:r>
            <a:r>
              <a:rPr lang="hu-HU" sz="3000" dirty="0" err="1"/>
              <a:t>mut</a:t>
            </a:r>
            <a:r>
              <a:rPr lang="hu-HU" sz="3000" dirty="0"/>
              <a:t>;</a:t>
            </a:r>
            <a:br>
              <a:rPr lang="hu-HU" sz="3000" dirty="0"/>
            </a:br>
            <a:endParaRPr lang="hu-HU" sz="3000" dirty="0"/>
          </a:p>
          <a:p>
            <a:pPr marL="0" indent="0">
              <a:buNone/>
            </a:pPr>
            <a:r>
              <a:rPr lang="hu-HU" sz="3000" dirty="0"/>
              <a:t>Megj.: - helyfoglalás csak a mutató számára történik</a:t>
            </a:r>
            <a:br>
              <a:rPr lang="hu-HU" sz="3000" dirty="0"/>
            </a:br>
            <a:r>
              <a:rPr lang="hu-HU" sz="3000" dirty="0"/>
              <a:t>	 - a lefoglalt tárterület egy memóriacím tárolására elegendő</a:t>
            </a:r>
          </a:p>
        </p:txBody>
      </p:sp>
    </p:spTree>
    <p:extLst>
      <p:ext uri="{BB962C8B-B14F-4D97-AF65-F5344CB8AC3E}">
        <p14:creationId xmlns:p14="http://schemas.microsoft.com/office/powerpoint/2010/main" val="147779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9944" y="54430"/>
            <a:ext cx="11892569" cy="840259"/>
          </a:xfrm>
        </p:spPr>
        <p:txBody>
          <a:bodyPr>
            <a:noAutofit/>
          </a:bodyPr>
          <a:lstStyle/>
          <a:p>
            <a:r>
              <a:rPr lang="hu-HU" sz="3600" dirty="0"/>
              <a:t>A mutató típus használata a C++-ban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85713" y="1240975"/>
            <a:ext cx="11666800" cy="47788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hu-HU" sz="3200" dirty="0"/>
              <a:t>Példa:</a:t>
            </a:r>
          </a:p>
          <a:p>
            <a:pPr indent="11113">
              <a:buNone/>
            </a:pPr>
            <a:r>
              <a:rPr lang="cs-CZ" sz="3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br>
              <a:rPr lang="hu-HU" sz="3000" dirty="0"/>
            </a:br>
            <a:r>
              <a:rPr lang="hu-HU" sz="3000" dirty="0"/>
              <a:t> 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C805CC9-DA37-7547-1D88-0D2DC1B0C3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21" t="44942" r="51827" b="34154"/>
          <a:stretch>
            <a:fillRect/>
          </a:stretch>
        </p:blipFill>
        <p:spPr>
          <a:xfrm>
            <a:off x="600054" y="1730829"/>
            <a:ext cx="11301485" cy="3062844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2344DF7-83FC-3979-1CB1-DE3213F990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416" r="79375" b="15073"/>
          <a:stretch>
            <a:fillRect/>
          </a:stretch>
        </p:blipFill>
        <p:spPr>
          <a:xfrm>
            <a:off x="5116286" y="4178057"/>
            <a:ext cx="5029226" cy="156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2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060E8-989C-57E1-B983-4395CBAF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5CFECA-132A-B5FA-BE02-EA2F5D25B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" y="54430"/>
            <a:ext cx="11892569" cy="840259"/>
          </a:xfrm>
        </p:spPr>
        <p:txBody>
          <a:bodyPr>
            <a:noAutofit/>
          </a:bodyPr>
          <a:lstStyle/>
          <a:p>
            <a:r>
              <a:rPr lang="hu-HU" sz="3600" dirty="0"/>
              <a:t>A referencia típus használata a C++-ban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D9E20C-F205-E0E4-7FC8-786134BFF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8" y="839268"/>
            <a:ext cx="11402860" cy="5700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Úgy használhatjuk, mint egy változót, de helyfoglalás a ref. típusú változó számára nem történik, csak egy új alternatív nevet rendelünk egy már meglévő változóhoz.</a:t>
            </a:r>
          </a:p>
          <a:p>
            <a:pPr marL="0" indent="0"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Kötelező inicializálni.</a:t>
            </a:r>
          </a:p>
          <a:p>
            <a:pPr marL="0" indent="0"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Referenciaváltozó definíciója:</a:t>
            </a:r>
          </a:p>
          <a:p>
            <a:pPr marL="0" indent="0">
              <a:buNone/>
            </a:pPr>
            <a:endParaRPr lang="hu-HU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fenti definíció után, x és r között gyakorlatilag nem lesz különbség, memóriacímük is megegyezik.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6FAE378-1F6B-3103-DAAE-E85B25322E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38" t="49843" r="55209" b="34874"/>
          <a:stretch>
            <a:fillRect/>
          </a:stretch>
        </p:blipFill>
        <p:spPr>
          <a:xfrm>
            <a:off x="304797" y="3273135"/>
            <a:ext cx="10182425" cy="237952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6343D8B-25CA-84D0-4372-C6B29E70C6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276" r="81784" b="15610"/>
          <a:stretch>
            <a:fillRect/>
          </a:stretch>
        </p:blipFill>
        <p:spPr>
          <a:xfrm>
            <a:off x="6415038" y="4765964"/>
            <a:ext cx="3775722" cy="75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8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C2ECF-7166-CE82-4BFD-045A71D7F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09CB4E-DC6F-A34B-45AA-64FF7ED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27" y="73895"/>
            <a:ext cx="11336518" cy="62690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3200" dirty="0"/>
              <a:t>Különböző típusú változók használata</a:t>
            </a:r>
            <a:endParaRPr lang="en-GB" sz="32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F23727B-2A42-056E-4025-557AE2233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7</a:t>
            </a:fld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7B08E08-F5DD-C639-CE1C-B96C3EE7B9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83" t="29091" r="21903" b="19242"/>
          <a:stretch>
            <a:fillRect/>
          </a:stretch>
        </p:blipFill>
        <p:spPr>
          <a:xfrm>
            <a:off x="424401" y="1222506"/>
            <a:ext cx="10698569" cy="46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34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0DBD3-FFA2-F006-84B9-4879B9D9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B07A9D-A996-0A3B-8CB0-FA1D0265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" y="54430"/>
            <a:ext cx="11892569" cy="840259"/>
          </a:xfrm>
        </p:spPr>
        <p:txBody>
          <a:bodyPr>
            <a:noAutofit/>
          </a:bodyPr>
          <a:lstStyle/>
          <a:p>
            <a:r>
              <a:rPr lang="hu-HU" sz="3600" dirty="0"/>
              <a:t>Függvények használata a C++-ban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A82F06-509C-71AB-807D-BE17CD7E3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3" y="775855"/>
            <a:ext cx="11666800" cy="60277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3200" dirty="0"/>
              <a:t>Strukturált programozás</a:t>
            </a:r>
          </a:p>
          <a:p>
            <a:pPr marL="457200" lvl="1" indent="0">
              <a:buNone/>
            </a:pPr>
            <a:r>
              <a:rPr lang="hu-HU" sz="3200" dirty="0"/>
              <a:t>részfeladatokra bontás függvényekkel megoldva </a:t>
            </a:r>
          </a:p>
          <a:p>
            <a:pPr marL="457200" lvl="1" indent="0">
              <a:buNone/>
            </a:pPr>
            <a:r>
              <a:rPr lang="hu-HU" sz="3200" dirty="0"/>
              <a:t>mások által megírt függvényeket is használhatunk, csoportmunka lehetősége.</a:t>
            </a:r>
          </a:p>
          <a:p>
            <a:pPr marL="0" indent="0">
              <a:buNone/>
            </a:pPr>
            <a:r>
              <a:rPr lang="hu-HU" sz="3200" dirty="0"/>
              <a:t>Kétféle programozási módszer:</a:t>
            </a:r>
          </a:p>
          <a:p>
            <a:pPr marL="457200" lvl="1" indent="0">
              <a:buNone/>
            </a:pPr>
            <a:r>
              <a:rPr lang="hu-HU" sz="3200" dirty="0"/>
              <a:t>1. felülről-lefelé építkezés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hu-HU" sz="3200" dirty="0"/>
              <a:t>Deklaráció(k)  =&gt; Fő függvény =&gt; Rész függvény(</a:t>
            </a:r>
            <a:r>
              <a:rPr lang="hu-HU" sz="3200" dirty="0" err="1"/>
              <a:t>ek</a:t>
            </a:r>
            <a:r>
              <a:rPr lang="hu-HU" sz="3200" dirty="0"/>
              <a:t>)</a:t>
            </a:r>
          </a:p>
          <a:p>
            <a:pPr marL="457200" lvl="1" indent="0">
              <a:buNone/>
            </a:pPr>
            <a:r>
              <a:rPr lang="hu-HU" sz="3200" dirty="0">
                <a:solidFill>
                  <a:prstClr val="black"/>
                </a:solidFill>
              </a:rPr>
              <a:t>2. alulról felfelé építkezés 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hu-HU" sz="3200" dirty="0">
                <a:solidFill>
                  <a:prstClr val="black"/>
                </a:solidFill>
              </a:rPr>
              <a:t>Rész függvény(</a:t>
            </a:r>
            <a:r>
              <a:rPr lang="hu-HU" sz="3200" dirty="0" err="1">
                <a:solidFill>
                  <a:prstClr val="black"/>
                </a:solidFill>
              </a:rPr>
              <a:t>ek</a:t>
            </a:r>
            <a:r>
              <a:rPr lang="hu-HU" sz="3200" dirty="0">
                <a:solidFill>
                  <a:prstClr val="black"/>
                </a:solidFill>
              </a:rPr>
              <a:t>) =&gt; Fő függvény </a:t>
            </a:r>
          </a:p>
          <a:p>
            <a:pPr marL="0" indent="0">
              <a:buNone/>
            </a:pPr>
            <a:r>
              <a:rPr lang="hu-HU" sz="3200" dirty="0"/>
              <a:t>Kis programok esetén nincs különbség.</a:t>
            </a:r>
          </a:p>
          <a:p>
            <a:pPr marL="0" indent="0">
              <a:buNone/>
            </a:pPr>
            <a:r>
              <a:rPr lang="hu-HU" sz="3200" dirty="0"/>
              <a:t>Több állományból álló programok esetén célszerűbb a </a:t>
            </a:r>
            <a:r>
              <a:rPr lang="hu-HU" sz="3200" dirty="0" err="1"/>
              <a:t>felülről</a:t>
            </a:r>
            <a:r>
              <a:rPr lang="hu-HU" sz="3200" dirty="0"/>
              <a:t>-lefelé módszert alkalmazni.</a:t>
            </a:r>
          </a:p>
        </p:txBody>
      </p:sp>
    </p:spTree>
    <p:extLst>
      <p:ext uri="{BB962C8B-B14F-4D97-AF65-F5344CB8AC3E}">
        <p14:creationId xmlns:p14="http://schemas.microsoft.com/office/powerpoint/2010/main" val="410949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86C1-CD5F-843D-F916-29CF070F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D328D9-4636-8AEB-D943-B33F7483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" y="54430"/>
            <a:ext cx="11892569" cy="840259"/>
          </a:xfrm>
        </p:spPr>
        <p:txBody>
          <a:bodyPr>
            <a:noAutofit/>
          </a:bodyPr>
          <a:lstStyle/>
          <a:p>
            <a:r>
              <a:rPr lang="hu-HU" sz="3600" dirty="0"/>
              <a:t>Függvények használata a C++-ban - (felülről lefelé)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7795DC-EBD7-9826-FFEE-87937FF6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3" y="894689"/>
            <a:ext cx="11666800" cy="55892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3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kob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hu-HU" sz="3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x);				</a:t>
            </a:r>
            <a:r>
              <a:rPr lang="hu-HU" sz="3000" dirty="0">
                <a:solidFill>
                  <a:srgbClr val="008000"/>
                </a:solidFill>
                <a:latin typeface="Consolas" panose="020B0609020204030204" pitchFamily="49" charset="0"/>
              </a:rPr>
              <a:t>//deklaráció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					</a:t>
            </a:r>
            <a:r>
              <a:rPr lang="hu-HU" sz="3000" dirty="0">
                <a:solidFill>
                  <a:srgbClr val="008000"/>
                </a:solidFill>
                <a:latin typeface="Consolas" panose="020B0609020204030204" pitchFamily="49" charset="0"/>
              </a:rPr>
              <a:t>//főfüggvény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int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szam;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nn-NO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cout&lt;&lt;</a:t>
            </a:r>
            <a:r>
              <a:rPr lang="nn-NO" sz="3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"adjon meg egy szamot !"</a:t>
            </a:r>
            <a:r>
              <a:rPr lang="nn-NO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cin&gt;&gt;szam;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l-PL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cout &lt;&lt;</a:t>
            </a:r>
            <a:r>
              <a:rPr lang="pl-PL" sz="3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 a szam kobe "</a:t>
            </a:r>
            <a:r>
              <a:rPr lang="pl-PL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&lt;&lt;kob(szam);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hu-HU" sz="3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3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kob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hu-HU" sz="3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3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		</a:t>
            </a:r>
            <a:endParaRPr lang="hu-HU" sz="3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		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hu-HU" sz="3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3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hu-HU" sz="3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hu-HU" sz="3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	   </a:t>
            </a:r>
            <a:r>
              <a:rPr lang="hu-HU" sz="3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//függvény definíció  </a:t>
            </a: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3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		</a:t>
            </a:r>
            <a:r>
              <a:rPr lang="hu-HU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endParaRPr lang="hu-HU" sz="3200" dirty="0"/>
          </a:p>
        </p:txBody>
      </p:sp>
      <p:sp>
        <p:nvSpPr>
          <p:cNvPr id="4" name="Jobb oldali kapcsos zárójel 3">
            <a:extLst>
              <a:ext uri="{FF2B5EF4-FFF2-40B4-BE49-F238E27FC236}">
                <a16:creationId xmlns:a16="http://schemas.microsoft.com/office/drawing/2014/main" id="{608F20C4-2682-B791-D8EA-0F6D03C8F39C}"/>
              </a:ext>
            </a:extLst>
          </p:cNvPr>
          <p:cNvSpPr/>
          <p:nvPr/>
        </p:nvSpPr>
        <p:spPr>
          <a:xfrm>
            <a:off x="4322617" y="4655127"/>
            <a:ext cx="1025237" cy="1579418"/>
          </a:xfrm>
          <a:prstGeom prst="rightBrace">
            <a:avLst>
              <a:gd name="adj1" fmla="val 8333"/>
              <a:gd name="adj2" fmla="val 63158"/>
            </a:avLst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046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675D-A2C1-D496-DB53-CB16F3CB9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9AD7BE-E3CE-69D2-F29B-9D8C133D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" y="109850"/>
            <a:ext cx="11892569" cy="638297"/>
          </a:xfrm>
        </p:spPr>
        <p:txBody>
          <a:bodyPr>
            <a:noAutofit/>
          </a:bodyPr>
          <a:lstStyle/>
          <a:p>
            <a:r>
              <a:rPr lang="hu-HU" sz="3600" dirty="0"/>
              <a:t>Eljárások (</a:t>
            </a:r>
            <a:r>
              <a:rPr lang="hu-HU" sz="3600" dirty="0" err="1"/>
              <a:t>void</a:t>
            </a:r>
            <a:r>
              <a:rPr lang="hu-HU" sz="3600" dirty="0"/>
              <a:t>) - nincs visszatérési érték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7D7E42D-536B-2CCA-AC23-A1B9E51A8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13" y="637308"/>
            <a:ext cx="11666800" cy="60128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hu-HU" sz="21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iostream</a:t>
            </a:r>
            <a:r>
              <a:rPr lang="hu-HU" sz="21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hu-HU" sz="21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hu-HU" sz="21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hu-HU" sz="21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hu-HU" sz="21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kiir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u-HU" sz="2100" dirty="0" err="1">
                <a:solidFill>
                  <a:srgbClr val="2B91A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szo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u-HU" sz="21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2B91A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2100" dirty="0" err="1">
                <a:solidFill>
                  <a:srgbClr val="2B91A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nev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"Adja meg a nevet"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getline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(cin,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nev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int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hanyszor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hu-HU" sz="21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Hanyszor</a:t>
            </a:r>
            <a:r>
              <a:rPr lang="hu-HU" sz="21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irjuk</a:t>
            </a:r>
            <a:r>
              <a:rPr lang="hu-HU" sz="21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ki a </a:t>
            </a:r>
            <a:r>
              <a:rPr lang="hu-HU" sz="21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kepernyore</a:t>
            </a:r>
            <a:r>
              <a:rPr lang="hu-HU" sz="21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?"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cin </a:t>
            </a:r>
            <a:r>
              <a:rPr lang="hu-HU" sz="21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&gt;&gt;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hanyszor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kiir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nev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hanyszor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21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kiir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u-HU" sz="2100" dirty="0" err="1">
                <a:solidFill>
                  <a:srgbClr val="2B91A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szo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u-HU" sz="21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nn-NO" sz="21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nn-NO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nn-NO" sz="21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nn-NO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i = 0; i &lt; </a:t>
            </a:r>
            <a:r>
              <a:rPr lang="nn-NO" sz="21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nn-NO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 i++)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     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szo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>
                <a:solidFill>
                  <a:srgbClr val="0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1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1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}		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hu-HU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307307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ECE92-926F-8586-F74A-265BC13A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4CA640-B91A-B403-5815-834384AB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" y="41562"/>
            <a:ext cx="12132056" cy="576034"/>
          </a:xfrm>
        </p:spPr>
        <p:txBody>
          <a:bodyPr>
            <a:noAutofit/>
          </a:bodyPr>
          <a:lstStyle/>
          <a:p>
            <a:r>
              <a:rPr lang="hu-HU" sz="3200" dirty="0"/>
              <a:t>Függvények – </a:t>
            </a:r>
            <a:r>
              <a:rPr lang="hu-HU" sz="3200" i="1" dirty="0"/>
              <a:t>érték szerinti paraméter átadás - problémák</a:t>
            </a:r>
            <a:endParaRPr lang="hu-HU" sz="32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BADED3-2560-E2BC-402D-4D09621DA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800" y="617596"/>
            <a:ext cx="11846343" cy="61859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//kérjünk be 2 számot és cseréljük meg egy függvénnyel a számokat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hu-HU" sz="24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iostream</a:t>
            </a:r>
            <a:r>
              <a:rPr lang="hu-HU" sz="24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hu-HU" sz="24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csere(</a:t>
            </a:r>
            <a:r>
              <a:rPr lang="hu-HU" sz="22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2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x,</a:t>
            </a:r>
            <a:r>
              <a:rPr lang="hu-HU" sz="22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y);    </a:t>
            </a:r>
            <a:endParaRPr lang="hu-HU" sz="2200" dirty="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main()				</a:t>
            </a:r>
            <a:endParaRPr lang="hu-HU" sz="2200" b="1" dirty="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2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szam1,szam2;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22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hu-HU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hu-HU" sz="22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Kerem</a:t>
            </a:r>
            <a:r>
              <a:rPr lang="hu-HU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hu-HU" sz="22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ket</a:t>
            </a:r>
            <a:r>
              <a:rPr lang="hu-HU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2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szamot</a:t>
            </a:r>
            <a:r>
              <a:rPr lang="hu-HU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„&lt;&lt;</a:t>
            </a:r>
            <a:r>
              <a:rPr lang="hu-HU" sz="2200" dirty="0" err="1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cin&gt;&gt;szam1&gt;&gt;szam2;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cout&lt;&lt;</a:t>
            </a:r>
            <a:r>
              <a:rPr lang="pl-PL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"A csere elott: szam1="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&lt;&lt;szam1&lt;&lt;</a:t>
            </a:r>
            <a:r>
              <a:rPr lang="pl-PL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 szam2="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&lt;&lt;szam2&lt;&lt;endl;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csere(szam1,szam2);		</a:t>
            </a:r>
            <a:r>
              <a:rPr lang="hu-HU" sz="2200" dirty="0">
                <a:solidFill>
                  <a:srgbClr val="008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hu-HU" sz="2200" dirty="0" err="1">
                <a:solidFill>
                  <a:srgbClr val="008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fgv</a:t>
            </a:r>
            <a:r>
              <a:rPr lang="hu-HU" sz="2200" dirty="0">
                <a:solidFill>
                  <a:srgbClr val="008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híváskor szam1 szam2 értéket adjuk  át</a:t>
            </a:r>
            <a:endParaRPr lang="hu-HU" sz="22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cout&lt;&lt;</a:t>
            </a:r>
            <a:r>
              <a:rPr lang="pl-PL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"A csere utan: szam1="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&lt;&lt;szam1&lt;&lt;</a:t>
            </a:r>
            <a:r>
              <a:rPr lang="pl-PL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 szam2="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&lt;&lt;szam2;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2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csere(</a:t>
            </a:r>
            <a:r>
              <a:rPr lang="hu-HU" sz="22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200" dirty="0" err="1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u-HU" sz="22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hu-HU" sz="22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2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			</a:t>
            </a:r>
            <a:r>
              <a:rPr lang="hu-HU" sz="2200" dirty="0">
                <a:solidFill>
                  <a:srgbClr val="008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//érték szerinti paraméterátadás</a:t>
            </a:r>
            <a:endParaRPr lang="hu-HU" sz="22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seged=</a:t>
            </a:r>
            <a:r>
              <a:rPr lang="hu-HU" sz="22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x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hu-HU" sz="22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y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=seged;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hu-HU" sz="2200" dirty="0"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60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10F30-CAC2-2CED-D785-8B23071C6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A1F3F2-B41D-E412-C6AC-D388E7656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" y="41562"/>
            <a:ext cx="12132056" cy="576034"/>
          </a:xfrm>
        </p:spPr>
        <p:txBody>
          <a:bodyPr>
            <a:noAutofit/>
          </a:bodyPr>
          <a:lstStyle/>
          <a:p>
            <a:r>
              <a:rPr lang="hu-HU" sz="3200" dirty="0"/>
              <a:t>Függvények – </a:t>
            </a:r>
            <a:r>
              <a:rPr lang="hu-HU" sz="3200" i="1" dirty="0"/>
              <a:t>cím szerinti paraméter átadás</a:t>
            </a:r>
            <a:endParaRPr lang="hu-HU" sz="32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74FD49-AB06-A7C9-41CB-79727A8E8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800" y="617596"/>
            <a:ext cx="11846343" cy="61859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chemeClr val="accent6">
                    <a:lumMod val="75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//kérjünk be 2 számot és cseréljük meg egy függvénnyel a számokat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hu-HU" sz="24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iostream</a:t>
            </a:r>
            <a:r>
              <a:rPr lang="hu-HU" sz="24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hu-HU" sz="24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dirty="0" err="1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void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csere(</a:t>
            </a:r>
            <a:r>
              <a:rPr lang="hu-HU" sz="24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*</a:t>
            </a:r>
            <a:r>
              <a:rPr lang="hu-HU" sz="2400" dirty="0" err="1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x,</a:t>
            </a:r>
            <a:r>
              <a:rPr lang="hu-HU" sz="2400" dirty="0" err="1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*y);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hu-HU" sz="2200" dirty="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main()				</a:t>
            </a:r>
            <a:endParaRPr lang="hu-HU" sz="2200" b="1" dirty="0">
              <a:solidFill>
                <a:schemeClr val="accent6">
                  <a:lumMod val="75000"/>
                </a:schemeClr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2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szam1,szam2;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u-HU" sz="22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</a:t>
            </a:r>
            <a:r>
              <a:rPr lang="hu-HU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hu-HU" sz="22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Kerem</a:t>
            </a:r>
            <a:r>
              <a:rPr lang="hu-HU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hu-HU" sz="22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ket</a:t>
            </a:r>
            <a:r>
              <a:rPr lang="hu-HU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2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szamot</a:t>
            </a:r>
            <a:r>
              <a:rPr lang="hu-HU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”&lt;&lt;</a:t>
            </a:r>
            <a:r>
              <a:rPr lang="hu-HU" sz="2200" dirty="0" err="1"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cin&gt;&gt;szam1&gt;&gt;szam2;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cout&lt;&lt;</a:t>
            </a:r>
            <a:r>
              <a:rPr lang="pl-PL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"A csere elott: szam1="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&lt;&lt;szam1&lt;&lt;</a:t>
            </a:r>
            <a:r>
              <a:rPr lang="pl-PL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 szam2="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&lt;&lt;szam2&lt;&lt;endl;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csere(&amp;szam1,&amp;szam2);		</a:t>
            </a:r>
            <a:r>
              <a:rPr lang="hu-HU" sz="2200" dirty="0">
                <a:solidFill>
                  <a:srgbClr val="008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hu-HU" sz="2200" dirty="0" err="1">
                <a:solidFill>
                  <a:srgbClr val="008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fgv</a:t>
            </a:r>
            <a:r>
              <a:rPr lang="hu-HU" sz="2200" dirty="0">
                <a:solidFill>
                  <a:srgbClr val="008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200" dirty="0" err="1">
                <a:solidFill>
                  <a:srgbClr val="008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hiváskor</a:t>
            </a:r>
            <a:r>
              <a:rPr lang="hu-HU" sz="2200" dirty="0">
                <a:solidFill>
                  <a:srgbClr val="008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szam1 szam2 címét adjuk  át</a:t>
            </a:r>
            <a:endParaRPr lang="hu-HU" sz="22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cout&lt;&lt;</a:t>
            </a:r>
            <a:r>
              <a:rPr lang="pl-PL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"A csere utan: szam1="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&lt;&lt;szam1&lt;&lt;</a:t>
            </a:r>
            <a:r>
              <a:rPr lang="pl-PL" sz="22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 szam2="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&lt;&lt;szam2;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2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csere(</a:t>
            </a:r>
            <a:r>
              <a:rPr lang="hu-HU" sz="22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*</a:t>
            </a:r>
            <a:r>
              <a:rPr lang="hu-HU" sz="2200" dirty="0" err="1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u-HU" sz="22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hu-HU" sz="22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*</a:t>
            </a:r>
            <a:r>
              <a:rPr lang="hu-HU" sz="22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			</a:t>
            </a:r>
            <a:r>
              <a:rPr lang="hu-HU" sz="2200" dirty="0">
                <a:solidFill>
                  <a:srgbClr val="008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//cím szerinti paraméterátadás</a:t>
            </a:r>
            <a:endParaRPr lang="hu-HU" sz="22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int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seged=*</a:t>
            </a:r>
            <a:r>
              <a:rPr lang="hu-HU" sz="22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*x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=*</a:t>
            </a:r>
            <a:r>
              <a:rPr lang="hu-HU" sz="22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	*y</a:t>
            </a: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=seged;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hu-HU" sz="2200" dirty="0"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304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70068" y="186475"/>
            <a:ext cx="11946925" cy="714071"/>
          </a:xfrm>
        </p:spPr>
        <p:txBody>
          <a:bodyPr>
            <a:normAutofit/>
          </a:bodyPr>
          <a:lstStyle/>
          <a:p>
            <a:r>
              <a:rPr lang="hu-HU" sz="3600" dirty="0"/>
              <a:t>Függvények – tömbargumentumok átadása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96351" y="1156854"/>
            <a:ext cx="11089067" cy="4911437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Számtömb (int, </a:t>
            </a:r>
            <a:r>
              <a:rPr lang="hu-HU" dirty="0" err="1"/>
              <a:t>float</a:t>
            </a:r>
            <a:r>
              <a:rPr lang="hu-HU" dirty="0"/>
              <a:t>, </a:t>
            </a:r>
            <a:r>
              <a:rPr lang="hu-HU" dirty="0" err="1"/>
              <a:t>double</a:t>
            </a:r>
            <a:r>
              <a:rPr lang="hu-HU" dirty="0"/>
              <a:t>) átadása. </a:t>
            </a:r>
          </a:p>
          <a:p>
            <a:pPr marL="216000" indent="0">
              <a:buNone/>
            </a:pPr>
            <a:r>
              <a:rPr lang="hu-HU" dirty="0"/>
              <a:t>A szám típusú tömbargumentumok esetén a függvénynek át kell adni </a:t>
            </a:r>
            <a:br>
              <a:rPr lang="hu-HU" dirty="0"/>
            </a:br>
            <a:r>
              <a:rPr lang="hu-HU" dirty="0"/>
              <a:t>a tömb kezdőcímét, és célszerű a méretét is átadni.</a:t>
            </a:r>
          </a:p>
          <a:p>
            <a:pPr marL="216000" indent="0">
              <a:buNone/>
            </a:pPr>
            <a:r>
              <a:rPr lang="hu-HU" dirty="0"/>
              <a:t>Kétféle írásmód:</a:t>
            </a:r>
          </a:p>
          <a:p>
            <a:pPr marL="216000" indent="0">
              <a:buNone/>
            </a:pPr>
            <a:r>
              <a:rPr lang="hu-HU" dirty="0" err="1"/>
              <a:t>Vissz</a:t>
            </a:r>
            <a:r>
              <a:rPr lang="hu-HU" dirty="0"/>
              <a:t>_érték_</a:t>
            </a:r>
            <a:r>
              <a:rPr lang="hu-HU" dirty="0" err="1"/>
              <a:t>típ</a:t>
            </a:r>
            <a:r>
              <a:rPr lang="hu-HU" dirty="0"/>
              <a:t> </a:t>
            </a:r>
            <a:r>
              <a:rPr lang="hu-HU" dirty="0" err="1"/>
              <a:t>Fv</a:t>
            </a:r>
            <a:r>
              <a:rPr lang="hu-HU" dirty="0"/>
              <a:t>_név (tömb_</a:t>
            </a:r>
            <a:r>
              <a:rPr lang="hu-HU" dirty="0" err="1"/>
              <a:t>típ</a:t>
            </a:r>
            <a:r>
              <a:rPr lang="hu-HU" dirty="0"/>
              <a:t> *</a:t>
            </a:r>
            <a:r>
              <a:rPr lang="hu-HU" dirty="0" err="1"/>
              <a:t>tmb</a:t>
            </a:r>
            <a:r>
              <a:rPr lang="hu-HU" dirty="0"/>
              <a:t>, int méret);</a:t>
            </a:r>
          </a:p>
          <a:p>
            <a:pPr marL="216000" lvl="1" indent="0">
              <a:spcBef>
                <a:spcPts val="1200"/>
              </a:spcBef>
              <a:buNone/>
            </a:pPr>
            <a:r>
              <a:rPr lang="hu-HU" sz="2800" dirty="0"/>
              <a:t>		</a:t>
            </a:r>
            <a:r>
              <a:rPr lang="hu-HU" sz="2800" b="1" dirty="0"/>
              <a:t>int </a:t>
            </a:r>
            <a:r>
              <a:rPr lang="hu-HU" sz="2800" b="1" dirty="0" err="1"/>
              <a:t>Szum</a:t>
            </a:r>
            <a:r>
              <a:rPr lang="hu-HU" sz="2800" b="1" dirty="0"/>
              <a:t>(int * </a:t>
            </a:r>
            <a:r>
              <a:rPr lang="hu-HU" sz="2800" b="1" dirty="0" err="1"/>
              <a:t>tmb</a:t>
            </a:r>
            <a:r>
              <a:rPr lang="hu-HU" sz="2800" b="1" dirty="0"/>
              <a:t>, int db);</a:t>
            </a:r>
          </a:p>
          <a:p>
            <a:pPr marL="216000" indent="0">
              <a:buNone/>
            </a:pPr>
            <a:r>
              <a:rPr lang="hu-HU" dirty="0" err="1"/>
              <a:t>Vissz_érték_típ</a:t>
            </a:r>
            <a:r>
              <a:rPr lang="hu-HU" dirty="0"/>
              <a:t> </a:t>
            </a:r>
            <a:r>
              <a:rPr lang="hu-HU" dirty="0" err="1"/>
              <a:t>Fv_név</a:t>
            </a:r>
            <a:r>
              <a:rPr lang="hu-HU" dirty="0"/>
              <a:t>(</a:t>
            </a:r>
            <a:r>
              <a:rPr lang="hu-HU" dirty="0" err="1"/>
              <a:t>tömb_típ</a:t>
            </a:r>
            <a:r>
              <a:rPr lang="hu-HU" dirty="0"/>
              <a:t> </a:t>
            </a:r>
            <a:r>
              <a:rPr lang="hu-HU" dirty="0" err="1"/>
              <a:t>tmb</a:t>
            </a:r>
            <a:r>
              <a:rPr lang="hu-HU" dirty="0"/>
              <a:t>[], int méret);	</a:t>
            </a:r>
          </a:p>
          <a:p>
            <a:pPr marL="216000" lvl="2" indent="0">
              <a:spcBef>
                <a:spcPts val="1200"/>
              </a:spcBef>
              <a:buNone/>
            </a:pPr>
            <a:r>
              <a:rPr lang="hu-HU" sz="2800" dirty="0"/>
              <a:t>		</a:t>
            </a:r>
            <a:r>
              <a:rPr lang="hu-HU" sz="2800" b="1" dirty="0"/>
              <a:t>int </a:t>
            </a:r>
            <a:r>
              <a:rPr lang="hu-HU" sz="2800" b="1" dirty="0" err="1"/>
              <a:t>Szum</a:t>
            </a:r>
            <a:r>
              <a:rPr lang="hu-HU" sz="2800" b="1" dirty="0"/>
              <a:t>(int </a:t>
            </a:r>
            <a:r>
              <a:rPr lang="hu-HU" sz="2800" b="1" dirty="0" err="1"/>
              <a:t>tmb</a:t>
            </a:r>
            <a:r>
              <a:rPr lang="hu-HU" sz="2800" b="1" dirty="0"/>
              <a:t>[], int db);</a:t>
            </a:r>
          </a:p>
          <a:p>
            <a:pPr marL="0" indent="0">
              <a:buNone/>
            </a:pP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13340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92544" y="520244"/>
            <a:ext cx="11553382" cy="624077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hu-HU" sz="2300" dirty="0">
                <a:solidFill>
                  <a:srgbClr val="80808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3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hu-HU" sz="2300" dirty="0" err="1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iostream</a:t>
            </a:r>
            <a:r>
              <a:rPr lang="hu-HU" sz="2300" dirty="0">
                <a:solidFill>
                  <a:srgbClr val="A31515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hu-HU" sz="2300" dirty="0">
              <a:solidFill>
                <a:srgbClr val="000000"/>
              </a:solidFill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3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300" dirty="0" err="1">
                <a:solidFill>
                  <a:srgbClr val="0000FF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Atlag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hu-HU" sz="23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*, </a:t>
            </a:r>
            <a:r>
              <a:rPr lang="hu-HU" sz="23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  </a:t>
            </a:r>
            <a:r>
              <a:rPr lang="hu-HU" sz="23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számtani átlag számító függvény</a:t>
            </a:r>
            <a:endParaRPr lang="hu-HU" sz="23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int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jegy[10]={1,2,3,23,34,56,23,45,21,23};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nb-NO" sz="23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b-NO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jegy2[10]={ 10, 25, 43, 23, 34, 56, 23, 45, 21, 23 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hu-HU" sz="23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</a:t>
            </a:r>
            <a:r>
              <a:rPr lang="hu-HU" sz="23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nSzamtani</a:t>
            </a:r>
            <a:r>
              <a:rPr lang="hu-HU" sz="23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3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atlag</a:t>
            </a:r>
            <a:r>
              <a:rPr lang="hu-HU" sz="23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"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Atlag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(jegy,10)&lt;&lt;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hu-HU" sz="23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</a:t>
            </a:r>
            <a:r>
              <a:rPr lang="hu-HU" sz="23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nSzamtani</a:t>
            </a:r>
            <a:r>
              <a:rPr lang="hu-HU" sz="23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3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atlag</a:t>
            </a:r>
            <a:r>
              <a:rPr lang="hu-HU" sz="23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"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Atlag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(jegy2, 10) &lt;&lt; 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u-HU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Atlag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hu-HU" sz="23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</a:t>
            </a:r>
            <a:r>
              <a:rPr lang="hu-HU" sz="23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tmb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hu-HU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3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) 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	</a:t>
            </a:r>
            <a:r>
              <a:rPr lang="hu-HU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osszeg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=0;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	</a:t>
            </a:r>
            <a:r>
              <a:rPr lang="hu-HU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hu-HU" sz="23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i=0; i&lt;</a:t>
            </a:r>
            <a:r>
              <a:rPr lang="hu-HU" sz="23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i++)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	{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		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osszeg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osszeg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hu-HU" sz="23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tmb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[i];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	}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3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3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osszeg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hu-HU" sz="23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</a:t>
            </a: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hu-HU" sz="2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hu-HU" sz="2300" dirty="0"/>
          </a:p>
        </p:txBody>
      </p:sp>
      <p:sp>
        <p:nvSpPr>
          <p:cNvPr id="4" name="Cím 1"/>
          <p:cNvSpPr>
            <a:spLocks noGrp="1"/>
          </p:cNvSpPr>
          <p:nvPr>
            <p:ph type="title"/>
          </p:nvPr>
        </p:nvSpPr>
        <p:spPr>
          <a:xfrm>
            <a:off x="112147" y="-33122"/>
            <a:ext cx="11997307" cy="587305"/>
          </a:xfrm>
        </p:spPr>
        <p:txBody>
          <a:bodyPr>
            <a:normAutofit/>
          </a:bodyPr>
          <a:lstStyle/>
          <a:p>
            <a:r>
              <a:rPr lang="hu-HU" sz="3600" dirty="0"/>
              <a:t>Függvények – tömbargumentumok átadása</a:t>
            </a:r>
          </a:p>
        </p:txBody>
      </p:sp>
    </p:spTree>
    <p:extLst>
      <p:ext uri="{BB962C8B-B14F-4D97-AF65-F5344CB8AC3E}">
        <p14:creationId xmlns:p14="http://schemas.microsoft.com/office/powerpoint/2010/main" val="2937164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E839-5AEE-84C7-4B17-AB812CF4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16294F7F-3895-9145-0D6D-AEEC33080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45" y="755771"/>
            <a:ext cx="11787309" cy="578357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u-HU" sz="2600" dirty="0"/>
              <a:t>Egy utazó ügynök a </a:t>
            </a:r>
            <a:r>
              <a:rPr lang="hu-HU" sz="2600" i="1" dirty="0"/>
              <a:t>vartav01.txt </a:t>
            </a:r>
            <a:r>
              <a:rPr lang="hu-HU" sz="2600" dirty="0"/>
              <a:t>állományban tárolja a januárban felkeresett városok nevét, távolságát kilométerben, a megkötött szerződések számát. </a:t>
            </a:r>
          </a:p>
          <a:p>
            <a:pPr marL="0" indent="0">
              <a:buNone/>
            </a:pPr>
            <a:r>
              <a:rPr lang="hu-HU" sz="2600" dirty="0"/>
              <a:t>pl.: </a:t>
            </a:r>
            <a:r>
              <a:rPr lang="hu-HU" sz="2600" dirty="0" err="1"/>
              <a:t>Kecskemet</a:t>
            </a:r>
            <a:r>
              <a:rPr lang="hu-HU" sz="2600" dirty="0"/>
              <a:t> 85 3 </a:t>
            </a:r>
          </a:p>
          <a:p>
            <a:pPr marL="0" indent="0" algn="just">
              <a:buNone/>
            </a:pPr>
            <a:r>
              <a:rPr lang="hu-HU" sz="2600" dirty="0"/>
              <a:t>Januárban nem volt 20 városnál többen, az egyes utak adatai mindig új sorban vannak. Készítsünk programot, amely </a:t>
            </a:r>
            <a:r>
              <a:rPr lang="hu-HU" sz="2600" b="1" dirty="0"/>
              <a:t>függvények </a:t>
            </a:r>
            <a:r>
              <a:rPr lang="hu-HU" sz="2600" dirty="0"/>
              <a:t>segítségével megoldja az alábbi feladatokat: </a:t>
            </a:r>
          </a:p>
          <a:p>
            <a:pPr marL="623888" indent="-360363">
              <a:buFont typeface="+mj-lt"/>
              <a:buAutoNum type="alphaLcPeriod"/>
            </a:pPr>
            <a:r>
              <a:rPr lang="hu-HU" sz="2600" dirty="0"/>
              <a:t>Beolvassa az adatokat, kiírja képernyőre és megszámolja hány út volt. </a:t>
            </a:r>
          </a:p>
          <a:p>
            <a:pPr marL="623888" indent="-360363">
              <a:buFont typeface="+mj-lt"/>
              <a:buAutoNum type="alphaLcPeriod"/>
            </a:pPr>
            <a:r>
              <a:rPr lang="hu-HU" sz="2600" dirty="0"/>
              <a:t>Hány kilométert utazott januárban? </a:t>
            </a:r>
          </a:p>
          <a:p>
            <a:pPr marL="623888" indent="-360363">
              <a:buFont typeface="+mj-lt"/>
              <a:buAutoNum type="alphaLcPeriod"/>
            </a:pPr>
            <a:r>
              <a:rPr lang="hu-HU" sz="2600" dirty="0"/>
              <a:t>Melyik a legközelebbi város? </a:t>
            </a:r>
          </a:p>
          <a:p>
            <a:pPr marL="623888" indent="-360363">
              <a:buFont typeface="+mj-lt"/>
              <a:buAutoNum type="alphaLcPeriod"/>
            </a:pPr>
            <a:r>
              <a:rPr lang="hu-HU" sz="2600" dirty="0"/>
              <a:t>Hányszor volt közeli városban (távolság &lt;80km)? </a:t>
            </a:r>
          </a:p>
          <a:p>
            <a:pPr marL="623888" indent="-360363">
              <a:buFont typeface="+mj-lt"/>
              <a:buAutoNum type="alphaLcPeriod"/>
            </a:pPr>
            <a:r>
              <a:rPr lang="hu-HU" sz="2600" dirty="0"/>
              <a:t>Melyik városban kötötte a legtöbb szerződést, mennyit? </a:t>
            </a:r>
          </a:p>
          <a:p>
            <a:pPr marL="623888" indent="-360363">
              <a:buFont typeface="+mj-lt"/>
              <a:buAutoNum type="alphaLcPeriod"/>
            </a:pPr>
            <a:r>
              <a:rPr lang="hu-HU" sz="2600" dirty="0"/>
              <a:t>Volt-e januárban Kecskeméten(logikai értekkel)? </a:t>
            </a:r>
          </a:p>
          <a:p>
            <a:pPr marL="623888" indent="-360363">
              <a:buFont typeface="+mj-lt"/>
              <a:buAutoNum type="alphaLcPeriod"/>
            </a:pPr>
            <a:r>
              <a:rPr lang="hu-HU" sz="2600" dirty="0"/>
              <a:t>Hány városban kötött legalább 3 szerződést? 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endParaRPr lang="hu-HU" sz="2300" dirty="0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548CC0B8-F5D2-49E9-5861-EEBBF4210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47" y="-33122"/>
            <a:ext cx="11997307" cy="587305"/>
          </a:xfrm>
        </p:spPr>
        <p:txBody>
          <a:bodyPr>
            <a:normAutofit/>
          </a:bodyPr>
          <a:lstStyle/>
          <a:p>
            <a:r>
              <a:rPr lang="hu-HU" sz="3600" dirty="0"/>
              <a:t>Utazó ügynök  - függvényekkel - feladat</a:t>
            </a:r>
          </a:p>
        </p:txBody>
      </p:sp>
    </p:spTree>
    <p:extLst>
      <p:ext uri="{BB962C8B-B14F-4D97-AF65-F5344CB8AC3E}">
        <p14:creationId xmlns:p14="http://schemas.microsoft.com/office/powerpoint/2010/main" val="3087155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018AE-3F95-BBAB-B068-68D524109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F6D1A18C-AC71-E7CF-99F4-92320238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47" y="-33122"/>
            <a:ext cx="11997307" cy="587305"/>
          </a:xfrm>
        </p:spPr>
        <p:txBody>
          <a:bodyPr>
            <a:normAutofit/>
          </a:bodyPr>
          <a:lstStyle/>
          <a:p>
            <a:r>
              <a:rPr lang="hu-HU" sz="3600" dirty="0"/>
              <a:t>Utazó ügynök  - függvényekkel – futtatási kép</a:t>
            </a:r>
          </a:p>
        </p:txBody>
      </p:sp>
      <p:pic>
        <p:nvPicPr>
          <p:cNvPr id="2" name="Kép 1" descr="A képen szöveg, képernyőkép, képernyő, szoftver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FE916694-0580-7885-09AB-55AF006C43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2" t="4213" r="32985" b="35252"/>
          <a:stretch>
            <a:fillRect/>
          </a:stretch>
        </p:blipFill>
        <p:spPr bwMode="auto">
          <a:xfrm>
            <a:off x="394508" y="614445"/>
            <a:ext cx="10655668" cy="60080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2634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6647</TotalTime>
  <Words>1249</Words>
  <Application>Microsoft Office PowerPoint</Application>
  <PresentationFormat>Szélesvásznú</PresentationFormat>
  <Paragraphs>167</Paragraphs>
  <Slides>16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2" baseType="lpstr">
      <vt:lpstr>Aptos Black</vt:lpstr>
      <vt:lpstr>Arial</vt:lpstr>
      <vt:lpstr>Calibri</vt:lpstr>
      <vt:lpstr>Calibri Light</vt:lpstr>
      <vt:lpstr>Cascadia Mono</vt:lpstr>
      <vt:lpstr>Office-téma</vt:lpstr>
      <vt:lpstr>Programozás_1 – C++</vt:lpstr>
      <vt:lpstr>A gyakorlat tartalma</vt:lpstr>
      <vt:lpstr>Vetélkedő feladat</vt:lpstr>
      <vt:lpstr>A mutató típus használata a C++-ban</vt:lpstr>
      <vt:lpstr>A mutató típus használata a C++-ban</vt:lpstr>
      <vt:lpstr>A referencia típus használata a C++-ban</vt:lpstr>
      <vt:lpstr>Különböző típusú változók használata</vt:lpstr>
      <vt:lpstr>Függvények használata a C++-ban</vt:lpstr>
      <vt:lpstr>Függvények használata a C++-ban - (felülről lefelé)</vt:lpstr>
      <vt:lpstr>Eljárások (void) - nincs visszatérési érték</vt:lpstr>
      <vt:lpstr>Függvények – érték szerinti paraméter átadás - problémák</vt:lpstr>
      <vt:lpstr>Függvények – cím szerinti paraméter átadás</vt:lpstr>
      <vt:lpstr>Függvények – tömbargumentumok átadása</vt:lpstr>
      <vt:lpstr>Függvények – tömbargumentumok átadása</vt:lpstr>
      <vt:lpstr>Utazó ügynök  - függvényekkel - feladat</vt:lpstr>
      <vt:lpstr>Utazó ügynök  - függvényekkel – futtatási kép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irhazi.zoltan@nje.hu</dc:creator>
  <cp:lastModifiedBy>Irházi Zoltán</cp:lastModifiedBy>
  <cp:revision>204</cp:revision>
  <cp:lastPrinted>2023-10-28T08:29:36Z</cp:lastPrinted>
  <dcterms:created xsi:type="dcterms:W3CDTF">2022-07-16T17:04:56Z</dcterms:created>
  <dcterms:modified xsi:type="dcterms:W3CDTF">2026-10-26T19:12:17Z</dcterms:modified>
</cp:coreProperties>
</file>